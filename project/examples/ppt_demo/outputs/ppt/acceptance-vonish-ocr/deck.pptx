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旧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溢出</c:v>
                </c:pt>
                <c:pt idx="1">
                  <c:v>越界</c:v>
                </c:pt>
                <c:pt idx="2">
                  <c:v>配色</c:v>
                </c:pt>
                <c:pt idx="3">
                  <c:v>一致性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30.0</c:v>
                </c:pt>
                <c:pt idx="2">
                  <c:v>55.0</c:v>
                </c:pt>
                <c:pt idx="3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溢出</c:v>
                </c:pt>
                <c:pt idx="1">
                  <c:v>越界</c:v>
                </c:pt>
                <c:pt idx="2">
                  <c:v>配色</c:v>
                </c:pt>
                <c:pt idx="3">
                  <c:v>一致性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1.0</c:v>
                </c:pt>
                <c:pt idx="2">
                  <c:v>2.0</c:v>
                </c:pt>
                <c:pt idx="3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0" y="2161642"/>
            <a:ext cx="762000" cy="4762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20286"/>
            <a:ext cx="10728960" cy="5715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0" i="0">
                <a:solidFill>
                  <a:srgbClr val="F59E0B"/>
                </a:solidFill>
                <a:latin typeface="Noto Sans SC"/>
              </a:rPr>
              <a:t>确定性渲染管线 · Deterministic Deck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272430"/>
            <a:ext cx="1072896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400" b="0" i="0">
                <a:solidFill>
                  <a:srgbClr val="8CA3AD"/>
                </a:solidFill>
                <a:latin typeface="Noto Sans SC"/>
              </a:rPr>
              <a:t>Vonish · 2026-06-14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92070"/>
            <a:ext cx="10728960" cy="1728216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4400" b="1" i="0">
                <a:solidFill>
                  <a:srgbClr val="ECFEFF"/>
                </a:solidFill>
                <a:latin typeface="Noto Sans SC"/>
              </a:rPr>
              <a:t>VonishAgent PPT Artifact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687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252D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3545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252D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0403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252D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726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252D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16687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252D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0" y="23545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252D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1250" y="30403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252D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1250" y="37261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252D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0620" y="14782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FEFF"/>
                </a:solidFill>
                <a:latin typeface="Noto Sans SC"/>
              </a:rPr>
              <a:t>问题定义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620" y="21640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FEFF"/>
                </a:solidFill>
                <a:latin typeface="Noto Sans SC"/>
              </a:rPr>
              <a:t>设计系统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620" y="28498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FEFF"/>
                </a:solidFill>
                <a:latin typeface="Noto Sans SC"/>
              </a:rPr>
              <a:t>布局引擎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620" y="35356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FEFF"/>
                </a:solidFill>
                <a:latin typeface="Noto Sans SC"/>
              </a:rPr>
              <a:t>渲染器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0350" y="14782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FEFF"/>
                </a:solidFill>
                <a:latin typeface="Noto Sans SC"/>
              </a:rPr>
              <a:t>质量验收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0350" y="21640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FEFF"/>
                </a:solidFill>
                <a:latin typeface="Noto Sans SC"/>
              </a:rPr>
              <a:t>自动修复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0350" y="28498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FEFF"/>
                </a:solidFill>
                <a:latin typeface="Noto Sans SC"/>
              </a:rPr>
              <a:t>预览闭环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0350" y="3535680"/>
            <a:ext cx="4792980" cy="685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FEFF"/>
                </a:solidFill>
                <a:latin typeface="Noto Sans SC"/>
              </a:rPr>
              <a:t>下一步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ECFEFF"/>
                </a:solidFill>
                <a:latin typeface="Noto Sans SC"/>
              </a:rPr>
              <a:t>目录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6687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F59E0B"/>
                </a:solidFill>
                <a:latin typeface="Noto Sans S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3545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F59E0B"/>
                </a:solidFill>
                <a:latin typeface="Noto Sans S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403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F59E0B"/>
                </a:solidFill>
                <a:latin typeface="Noto Sans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261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F59E0B"/>
                </a:solidFill>
                <a:latin typeface="Noto Sans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1250" y="16687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F59E0B"/>
                </a:solidFill>
                <a:latin typeface="Noto Sans S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1250" y="23545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F59E0B"/>
                </a:solidFill>
                <a:latin typeface="Noto Sans S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1250" y="30403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F59E0B"/>
                </a:solidFill>
                <a:latin typeface="Noto Sans SC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1250" y="3726180"/>
            <a:ext cx="304800" cy="3048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F59E0B"/>
                </a:solidFill>
                <a:latin typeface="Noto Sans SC"/>
              </a:rPr>
              <a:t>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364480" cy="11430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7000" b="1" i="0">
                <a:solidFill>
                  <a:srgbClr val="F59E0B"/>
                </a:solidFill>
                <a:latin typeface="Noto Sans S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811573"/>
            <a:ext cx="10728960" cy="6667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8CA3AD"/>
                </a:solidFill>
                <a:latin typeface="Noto Sans SC"/>
              </a:rPr>
              <a:t>为什么 AI 生成的 PPT 总是配色随机、文字溢出、版面失序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68142"/>
            <a:ext cx="10728960" cy="1613002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4400" b="1" i="0">
                <a:solidFill>
                  <a:srgbClr val="ECFEFF"/>
                </a:solidFill>
                <a:latin typeface="Noto Sans SC"/>
              </a:rPr>
              <a:t>问题定义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179320"/>
            <a:ext cx="3449320" cy="3429000"/>
          </a:xfrm>
          <a:prstGeom prst="roundRect">
            <a:avLst>
              <a:gd name="adj" fmla="val 2222"/>
            </a:avLst>
          </a:prstGeom>
          <a:solidFill>
            <a:srgbClr val="1B252D"/>
          </a:solidFill>
          <a:ln w="12700">
            <a:solidFill>
              <a:srgbClr val="1A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71340" y="2179320"/>
            <a:ext cx="3449320" cy="3429000"/>
          </a:xfrm>
          <a:prstGeom prst="roundRect">
            <a:avLst>
              <a:gd name="adj" fmla="val 2222"/>
            </a:avLst>
          </a:prstGeom>
          <a:solidFill>
            <a:srgbClr val="1B252D"/>
          </a:solidFill>
          <a:ln w="12700">
            <a:solidFill>
              <a:srgbClr val="1A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11160" y="2179320"/>
            <a:ext cx="3449320" cy="3429000"/>
          </a:xfrm>
          <a:prstGeom prst="roundRect">
            <a:avLst>
              <a:gd name="adj" fmla="val 2222"/>
            </a:avLst>
          </a:prstGeom>
          <a:solidFill>
            <a:srgbClr val="1B252D"/>
          </a:solidFill>
          <a:ln w="12700">
            <a:solidFill>
              <a:srgbClr val="1A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79320"/>
            <a:ext cx="3449320" cy="381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71340" y="2179320"/>
            <a:ext cx="344932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11160" y="2179320"/>
            <a:ext cx="344932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3920" y="2331720"/>
            <a:ext cx="314452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ECFEFF"/>
                </a:solidFill>
                <a:latin typeface="Noto Sans SC"/>
              </a:rPr>
              <a:t>确定性渲染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3920" y="2846070"/>
            <a:ext cx="3144520" cy="26098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8CA3AD"/>
                </a:solidFill>
                <a:latin typeface="Noto Sans SC"/>
              </a:rPr>
              <a:t>SlideIR 驱动，主题 token 严格约束配色与字体，杜绝随机美学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3740" y="2331720"/>
            <a:ext cx="314452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ECFEFF"/>
                </a:solidFill>
                <a:latin typeface="Noto Sans SC"/>
              </a:rPr>
              <a:t>质量验收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3740" y="2846070"/>
            <a:ext cx="3144520" cy="26098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8CA3AD"/>
                </a:solidFill>
                <a:latin typeface="Noto Sans SC"/>
              </a:rPr>
              <a:t>交付前自动检测文字溢出、元素越界、对比度与主题一致性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3560" y="2331720"/>
            <a:ext cx="314452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ECFEFF"/>
                </a:solidFill>
                <a:latin typeface="Noto Sans SC"/>
              </a:rPr>
              <a:t>预览闭环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3560" y="2846070"/>
            <a:ext cx="3144520" cy="26098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8CA3AD"/>
                </a:solidFill>
                <a:latin typeface="Noto Sans SC"/>
              </a:rPr>
              <a:t>每页导出 PNG 预览，进入 Artifact Workbench 可被检视与引用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ECFEFF"/>
                </a:solidFill>
                <a:latin typeface="Noto Sans SC"/>
              </a:rPr>
              <a:t>三大核心能力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478280"/>
            <a:ext cx="5231130" cy="4831080"/>
          </a:xfrm>
          <a:prstGeom prst="roundRect">
            <a:avLst>
              <a:gd name="adj" fmla="val 1577"/>
            </a:avLst>
          </a:prstGeom>
          <a:solidFill>
            <a:srgbClr val="12191F"/>
          </a:solidFill>
          <a:ln w="12700">
            <a:solidFill>
              <a:srgbClr val="1A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1478280"/>
            <a:ext cx="5231130" cy="4831080"/>
          </a:xfrm>
          <a:prstGeom prst="roundRect">
            <a:avLst>
              <a:gd name="adj" fmla="val 1577"/>
            </a:avLst>
          </a:prstGeom>
          <a:solidFill>
            <a:srgbClr val="12191F"/>
          </a:solidFill>
          <a:ln w="12700">
            <a:solidFill>
              <a:srgbClr val="1A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78280"/>
            <a:ext cx="5231130" cy="4762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29350" y="1478280"/>
            <a:ext cx="5231130" cy="4762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070" y="2473642"/>
            <a:ext cx="66675" cy="66675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070" y="3083242"/>
            <a:ext cx="66675" cy="66675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070" y="3692842"/>
            <a:ext cx="66675" cy="66675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070" y="4302442"/>
            <a:ext cx="66675" cy="66675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38900" y="2473642"/>
            <a:ext cx="66675" cy="66675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8900" y="3083242"/>
            <a:ext cx="66675" cy="66675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8900" y="3692842"/>
            <a:ext cx="66675" cy="66675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8900" y="4302442"/>
            <a:ext cx="66675" cy="66675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1570" y="22021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FEFF"/>
                </a:solidFill>
                <a:latin typeface="Noto Sans SC"/>
              </a:rPr>
              <a:t>随机配色与字体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1570" y="28117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FEFF"/>
                </a:solidFill>
                <a:latin typeface="Noto Sans SC"/>
              </a:rPr>
              <a:t>文字经常溢出图形框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1570" y="34213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FEFF"/>
                </a:solidFill>
                <a:latin typeface="Noto Sans SC"/>
              </a:rPr>
              <a:t>Agent 不知道结果长什么样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1570" y="40309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FEFF"/>
                </a:solidFill>
                <a:latin typeface="Noto Sans SC"/>
              </a:rPr>
              <a:t>无任何质量闸门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2021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FEFF"/>
                </a:solidFill>
                <a:latin typeface="Noto Sans SC"/>
              </a:rPr>
              <a:t>主题 token 统一视觉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8117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FEFF"/>
                </a:solidFill>
                <a:latin typeface="Noto Sans SC"/>
              </a:rPr>
              <a:t>布局引擎计算坐标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4213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FEFF"/>
                </a:solidFill>
                <a:latin typeface="Noto Sans SC"/>
              </a:rPr>
              <a:t>渲染前预计算溢出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030980"/>
            <a:ext cx="458343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FEFF"/>
                </a:solidFill>
                <a:latin typeface="Noto Sans SC"/>
              </a:rPr>
              <a:t>交付前自动验收修复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20" y="1668780"/>
            <a:ext cx="485013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ECFEFF"/>
                </a:solidFill>
                <a:latin typeface="Noto Sans SC"/>
              </a:rPr>
              <a:t>旧：iPython 随机摆放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850" y="1668780"/>
            <a:ext cx="4850130" cy="45720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ECFEFF"/>
                </a:solidFill>
                <a:latin typeface="Noto Sans SC"/>
              </a:rPr>
              <a:t>新：Artifact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ECFEFF"/>
                </a:solidFill>
                <a:latin typeface="Noto Sans SC"/>
              </a:rPr>
              <a:t>旧管线 vs 新管线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B252D"/>
          </a:solidFill>
          <a:ln w="12700">
            <a:solidFill>
              <a:srgbClr val="1A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03982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B252D"/>
          </a:solidFill>
          <a:ln w="12700">
            <a:solidFill>
              <a:srgbClr val="1A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76444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B252D"/>
          </a:solidFill>
          <a:ln w="12700">
            <a:solidFill>
              <a:srgbClr val="1A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8906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B252D"/>
          </a:solidFill>
          <a:ln w="12700">
            <a:solidFill>
              <a:srgbClr val="1A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1368" y="2465070"/>
            <a:ext cx="2039112" cy="2857500"/>
          </a:xfrm>
          <a:prstGeom prst="roundRect">
            <a:avLst>
              <a:gd name="adj" fmla="val 3736"/>
            </a:avLst>
          </a:prstGeom>
          <a:solidFill>
            <a:srgbClr val="1B252D"/>
          </a:solidFill>
          <a:ln w="12700">
            <a:solidFill>
              <a:srgbClr val="1A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60576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33038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05500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77962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50424" y="263652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600" b="1" i="0">
                <a:solidFill>
                  <a:srgbClr val="ECFEFF"/>
                </a:solidFill>
                <a:latin typeface="Noto Sans SC"/>
              </a:rPr>
              <a:t>DeckDesignSpec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8CA3AD"/>
                </a:solidFill>
                <a:latin typeface="Noto Sans SC"/>
              </a:rPr>
              <a:t>主题 + 布局 + 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8282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ECFEFF"/>
                </a:solidFill>
                <a:latin typeface="Noto Sans SC"/>
              </a:rPr>
              <a:t>SlideIR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8282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8CA3AD"/>
                </a:solidFill>
                <a:latin typeface="Noto Sans SC"/>
              </a:rPr>
              <a:t>布局引擎计算坐标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0744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ECFEFF"/>
                </a:solidFill>
                <a:latin typeface="Noto Sans SC"/>
              </a:rPr>
              <a:t>Render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0744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8CA3AD"/>
                </a:solidFill>
                <a:latin typeface="Noto Sans SC"/>
              </a:rPr>
              <a:t>python-pptx 原生元素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3206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ECFEFF"/>
                </a:solidFill>
                <a:latin typeface="Noto Sans SC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3206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8CA3AD"/>
                </a:solidFill>
                <a:latin typeface="Noto Sans SC"/>
              </a:rPr>
              <a:t>规则检测 + 自动修复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5668" y="3131820"/>
            <a:ext cx="1810512" cy="438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ECFEFF"/>
                </a:solidFill>
                <a:latin typeface="Noto Sans SC"/>
              </a:rPr>
              <a:t>Deliver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5668" y="3627120"/>
            <a:ext cx="1810512" cy="158115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8CA3AD"/>
                </a:solidFill>
                <a:latin typeface="Noto Sans SC"/>
              </a:rPr>
              <a:t>PPTX + 预览图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0576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6121A"/>
                </a:solidFill>
                <a:latin typeface="Noto Sans SC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3038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6121A"/>
                </a:solidFill>
                <a:latin typeface="Noto Sans SC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5500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6121A"/>
                </a:solidFill>
                <a:latin typeface="Noto Sans S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7962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6121A"/>
                </a:solidFill>
                <a:latin typeface="Noto Sans S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0424" y="2636520"/>
            <a:ext cx="381000" cy="3810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06121A"/>
                </a:solidFill>
                <a:latin typeface="Noto Sans S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ECFEFF"/>
                </a:solidFill>
                <a:latin typeface="Noto Sans SC"/>
              </a:rPr>
              <a:t>生成流程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79533"/>
            <a:ext cx="10728960" cy="28575"/>
          </a:xfrm>
          <a:prstGeom prst="rect">
            <a:avLst/>
          </a:prstGeom>
          <a:solidFill>
            <a:srgbClr val="27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33955" y="3808095"/>
            <a:ext cx="171450" cy="17145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10275" y="3808095"/>
            <a:ext cx="171450" cy="17145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86595" y="3808095"/>
            <a:ext cx="171450" cy="17145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7720" y="1636166"/>
            <a:ext cx="3423920" cy="2029054"/>
          </a:xfrm>
          <a:prstGeom prst="rect">
            <a:avLst/>
          </a:prstGeom>
          <a:noFill/>
        </p:spPr>
        <p:txBody>
          <a:bodyPr wrap="square" lIns="95250" rIns="95250" tIns="57150" bIns="57150" anchor="b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ECFEFF"/>
                </a:solidFill>
                <a:latin typeface="Noto Sans SC"/>
              </a:rPr>
              <a:t>Phase 1</a:t>
            </a:r>
          </a:p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ECFEFF"/>
                </a:solidFill>
                <a:latin typeface="Noto Sans SC"/>
              </a:rPr>
              <a:t>止血版管线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4040" y="4122420"/>
            <a:ext cx="3423920" cy="2029054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ECFEFF"/>
                </a:solidFill>
                <a:latin typeface="Noto Sans SC"/>
              </a:rPr>
              <a:t>Phase 2</a:t>
            </a:r>
          </a:p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ECFEFF"/>
                </a:solidFill>
                <a:latin typeface="Noto Sans SC"/>
              </a:rPr>
              <a:t>元素级解剖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0360" y="1636166"/>
            <a:ext cx="3423920" cy="2029054"/>
          </a:xfrm>
          <a:prstGeom prst="rect">
            <a:avLst/>
          </a:prstGeom>
          <a:noFill/>
        </p:spPr>
        <p:txBody>
          <a:bodyPr wrap="square" lIns="95250" rIns="95250" tIns="57150" bIns="57150" anchor="b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ECFEFF"/>
                </a:solidFill>
                <a:latin typeface="Noto Sans SC"/>
              </a:rPr>
              <a:t>Phase 3</a:t>
            </a:r>
          </a:p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ECFEFF"/>
                </a:solidFill>
                <a:latin typeface="Noto Sans SC"/>
              </a:rPr>
              <a:t>视觉反思闭环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ECFEFF"/>
                </a:solidFill>
                <a:latin typeface="Noto Sans SC"/>
              </a:rPr>
              <a:t>演进路线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27821" y="1478280"/>
            <a:ext cx="2832659" cy="4831080"/>
          </a:xfrm>
          <a:prstGeom prst="roundRect">
            <a:avLst>
              <a:gd name="adj" fmla="val 2690"/>
            </a:avLst>
          </a:prstGeom>
          <a:solidFill>
            <a:srgbClr val="12191F"/>
          </a:solidFill>
          <a:ln w="12700">
            <a:solidFill>
              <a:srgbClr val="1A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782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B252D"/>
          </a:solidFill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79671" y="14782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B252D"/>
          </a:solidFill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5069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B252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79671" y="25069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B252D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5356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B252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79671" y="3535680"/>
            <a:ext cx="3776701" cy="857250"/>
          </a:xfrm>
          <a:prstGeom prst="roundRect">
            <a:avLst>
              <a:gd name="adj" fmla="val 8888"/>
            </a:avLst>
          </a:prstGeom>
          <a:solidFill>
            <a:srgbClr val="1B252D"/>
          </a:solidFill>
          <a:ln w="25400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720" y="14782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ECFEFF"/>
                </a:solidFill>
                <a:latin typeface="Noto Sans SC"/>
              </a:rPr>
              <a:t>Theme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5871" y="14782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ECFEFF"/>
                </a:solidFill>
                <a:latin typeface="Noto Sans SC"/>
              </a:rPr>
              <a:t>Layout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720" y="25069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ECFEFF"/>
                </a:solidFill>
                <a:latin typeface="Noto Sans SC"/>
              </a:rPr>
              <a:t>PPTX Renderer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5871" y="25069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ECFEFF"/>
                </a:solidFill>
                <a:latin typeface="Noto Sans SC"/>
              </a:rPr>
              <a:t>PPT Validator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" y="35356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ECFEFF"/>
                </a:solidFill>
                <a:latin typeface="Noto Sans SC"/>
              </a:rPr>
              <a:t>Preview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5871" y="3535680"/>
            <a:ext cx="3624301" cy="857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1800" b="1" i="0">
                <a:solidFill>
                  <a:srgbClr val="ECFEFF"/>
                </a:solidFill>
                <a:latin typeface="Noto Sans SC"/>
              </a:rPr>
              <a:t>Artifact Workbench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1171" y="1592580"/>
            <a:ext cx="2565959" cy="460248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8CA3AD"/>
                </a:solidFill>
                <a:latin typeface="Noto Sans SC"/>
              </a:rPr>
              <a:t>• design 设计系统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8CA3AD"/>
                </a:solidFill>
                <a:latin typeface="Noto Sans SC"/>
              </a:rPr>
              <a:t>• render 渲染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8CA3AD"/>
                </a:solidFill>
                <a:latin typeface="Noto Sans SC"/>
              </a:rPr>
              <a:t>• qa 质量闸门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8CA3AD"/>
                </a:solidFill>
                <a:latin typeface="Noto Sans SC"/>
              </a:rPr>
              <a:t>• ui 工作台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ECFEFF"/>
                </a:solidFill>
                <a:latin typeface="Noto Sans SC"/>
              </a:rPr>
              <a:t>系统架构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478280"/>
            <a:ext cx="7081114" cy="4831080"/>
          </a:xfrm>
          <a:prstGeom prst="roundRect">
            <a:avLst>
              <a:gd name="adj" fmla="val 1577"/>
            </a:avLst>
          </a:prstGeom>
          <a:solidFill>
            <a:srgbClr val="12191F"/>
          </a:solidFill>
          <a:ln w="12700">
            <a:solidFill>
              <a:srgbClr val="1A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984084" y="1478280"/>
            <a:ext cx="3476396" cy="4831080"/>
          </a:xfrm>
          <a:prstGeom prst="roundRect">
            <a:avLst>
              <a:gd name="adj" fmla="val 2191"/>
            </a:avLst>
          </a:prstGeom>
          <a:solidFill>
            <a:srgbClr val="1B252D"/>
          </a:solidFill>
          <a:ln w="12700">
            <a:solidFill>
              <a:srgbClr val="1A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6770" y="1573530"/>
          <a:ext cx="6890614" cy="46405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84084" y="1478280"/>
            <a:ext cx="3476396" cy="4762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6484" y="1649730"/>
            <a:ext cx="3171596" cy="4488180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ECFEFF"/>
                </a:solidFill>
                <a:latin typeface="Noto Sans SC"/>
              </a:rPr>
              <a:t>文字溢出从 42% 降至 3%，配色越界基本消除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ECFEFF"/>
                </a:solidFill>
                <a:latin typeface="Noto Sans SC"/>
              </a:rPr>
              <a:t>交付质量提升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478280"/>
            <a:ext cx="10728960" cy="3478378"/>
          </a:xfrm>
          <a:prstGeom prst="roundRect">
            <a:avLst>
              <a:gd name="adj" fmla="val 2190"/>
            </a:avLst>
          </a:prstGeom>
          <a:solidFill>
            <a:srgbClr val="1B252D"/>
          </a:solidFill>
          <a:ln w="12700">
            <a:solidFill>
              <a:srgbClr val="27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3920" y="1611630"/>
            <a:ext cx="10424160" cy="3211678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CFEFF"/>
                </a:solidFill>
                <a:latin typeface="JetBrains Mono"/>
              </a:rPr>
              <a:t>result = generate_deck(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CFEFF"/>
                </a:solidFill>
                <a:latin typeface="JetBrains Mono"/>
              </a:rPr>
              <a:t>    title="季度复盘",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CFEFF"/>
                </a:solidFill>
                <a:latin typeface="JetBrains Mono"/>
              </a:rPr>
              <a:t>    theme_id="business-bluegray",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CFEFF"/>
                </a:solidFill>
                <a:latin typeface="JetBrains Mono"/>
              </a:rPr>
              <a:t>    slides=[...],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CFEFF"/>
                </a:solidFill>
                <a:latin typeface="JetBrains Mono"/>
              </a:rPr>
              <a:t>    workspace_dir=ws,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CFEFF"/>
                </a:solidFill>
                <a:latin typeface="JetBrains Mono"/>
              </a:rPr>
              <a:t>)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ECFEFF"/>
                </a:solidFill>
                <a:latin typeface="JetBrains Mono"/>
              </a:rPr>
              <a:t>print(result.validation.delivery_grade)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70958"/>
            <a:ext cx="10728960" cy="1238402"/>
          </a:xfrm>
          <a:prstGeom prst="rect">
            <a:avLst/>
          </a:prstGeom>
          <a:noFill/>
        </p:spPr>
        <p:txBody>
          <a:bodyPr wrap="square" lIns="95250" rIns="95250" tIns="57150" bIns="5715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8CA3AD"/>
                </a:solidFill>
                <a:latin typeface="Noto Sans SC"/>
              </a:rPr>
              <a:t>Agent 只描述内容，引擎负责坐标、配色、字体与验收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ECFEFF"/>
                </a:solidFill>
                <a:latin typeface="Noto Sans SC"/>
              </a:rPr>
              <a:t>统一入口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89837" y="1815998"/>
            <a:ext cx="9012326" cy="2649931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3600" b="1" i="0">
                <a:solidFill>
                  <a:srgbClr val="ECFEFF"/>
                </a:solidFill>
                <a:latin typeface="Noto Sans SC"/>
              </a:rPr>
              <a:t>“把空间推理交给确定性引擎，把审美交给设计系统”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811573"/>
            <a:ext cx="10728960" cy="4762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0" i="0">
                <a:solidFill>
                  <a:srgbClr val="F59E0B"/>
                </a:solidFill>
                <a:latin typeface="Noto Sans SC"/>
              </a:rPr>
              <a:t>— VonishAgent 设计原则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699760"/>
            <a:ext cx="10728960" cy="609600"/>
          </a:xfrm>
          <a:prstGeom prst="roundRect">
            <a:avLst>
              <a:gd name="adj" fmla="val 125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86740"/>
            <a:ext cx="57150" cy="68199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0570" y="1844992"/>
            <a:ext cx="85725" cy="85725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0570" y="2664142"/>
            <a:ext cx="85725" cy="85725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0570" y="3483292"/>
            <a:ext cx="85725" cy="85725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0570" y="4302442"/>
            <a:ext cx="85725" cy="85725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070" y="147828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ECFEFF"/>
                </a:solidFill>
                <a:latin typeface="Noto Sans SC"/>
              </a:rPr>
              <a:t>更稳定：布局引擎计算坐标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070" y="229743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ECFEFF"/>
                </a:solidFill>
                <a:latin typeface="Noto Sans SC"/>
              </a:rPr>
              <a:t>更统一：主题 token 约束视觉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070" y="311658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ECFEFF"/>
                </a:solidFill>
                <a:latin typeface="Noto Sans SC"/>
              </a:rPr>
              <a:t>可验收：交付前自动 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070" y="3935730"/>
            <a:ext cx="10462260" cy="81915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ECFEFF"/>
                </a:solidFill>
                <a:latin typeface="Noto Sans SC"/>
              </a:rPr>
              <a:t>可回滚：SlideIR 快照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70" y="5699760"/>
            <a:ext cx="10386060" cy="60960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2000" b="1" i="0">
                <a:solidFill>
                  <a:srgbClr val="06121A"/>
                </a:solidFill>
                <a:latin typeface="Noto Sans SC"/>
              </a:rPr>
              <a:t>下一次 PPT 交付必须经过此管线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020" y="548640"/>
            <a:ext cx="10538460" cy="758190"/>
          </a:xfrm>
          <a:prstGeom prst="rect">
            <a:avLst/>
          </a:prstGeom>
          <a:noFill/>
        </p:spPr>
        <p:txBody>
          <a:bodyPr wrap="square" lIns="95250" rIns="95250" tIns="57150" bIns="5715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3200" b="1" i="0">
                <a:solidFill>
                  <a:srgbClr val="ECFEFF"/>
                </a:solidFill>
                <a:latin typeface="Noto Sans SC"/>
              </a:rPr>
              <a:t>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