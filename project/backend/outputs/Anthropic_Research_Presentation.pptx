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283464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ANTHROPIC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5D4E"/>
                </a:solidFill>
                <a:latin typeface="Arial"/>
              </a:defRPr>
            </a:pPr>
            <a:r>
              <a:t>AI安全的引领者 · Claude的缔造者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8A9BAE"/>
                </a:solidFill>
                <a:latin typeface="Arial"/>
              </a:defRPr>
            </a:pPr>
            <a:r>
              <a:t>从OpenAI出走，到全球估值最高的AI创企之一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5D4E"/>
                </a:solidFill>
                <a:latin typeface="Arial"/>
              </a:defRPr>
            </a:pPr>
            <a: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成立年份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120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5D4E"/>
                </a:solidFill>
                <a:latin typeface="Arial"/>
              </a:defRPr>
            </a:pPr>
            <a:r>
              <a:t>$1830亿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F轮估值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120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5D4E"/>
                </a:solidFill>
                <a:latin typeface="Arial"/>
              </a:defRPr>
            </a:pPr>
            <a:r>
              <a:t>$50亿+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年化收入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5120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5D4E"/>
                </a:solidFill>
                <a:latin typeface="Arial"/>
              </a:defRPr>
            </a:pPr>
            <a:r>
              <a:t>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669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企业客户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公司概览 · Company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4E"/>
                </a:solidFill>
                <a:latin typeface="Arial"/>
              </a:defRPr>
            </a:pPr>
            <a:r>
              <a:t>公司全称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Anthropic PBC (Public Benefit Corporation)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4E"/>
                </a:solidFill>
                <a:latin typeface="Arial"/>
              </a:defRPr>
            </a:pPr>
            <a:r>
              <a:t>成立时间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2021年，美国加州旧金山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4E"/>
                </a:solidFill>
                <a:latin typeface="Arial"/>
              </a:defRPr>
            </a:pPr>
            <a:r>
              <a:t>使命愿景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构建可靠、可解释、可操纵的AI系统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4E"/>
                </a:solidFill>
                <a:latin typeface="Arial"/>
              </a:defRPr>
            </a:pPr>
            <a:r>
              <a:t>核心定位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AI安全研究与企业智能平台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4E"/>
                </a:solidFill>
                <a:latin typeface="Arial"/>
              </a:defRPr>
            </a:pPr>
            <a:r>
              <a:t>总部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美国旧金山，员工约800+人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377440" cy="20116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BAE"/>
                </a:solidFill>
                <a:latin typeface="Arial"/>
              </a:defRPr>
            </a:pPr>
            <a:r>
              <a:t>总部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美国</a:t>
            </a:r>
            <a:br/>
            <a:r>
              <a:t>旧金山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554480"/>
            <a:ext cx="2377440" cy="20116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783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BAE"/>
                </a:solidFill>
                <a:latin typeface="Arial"/>
              </a:defRPr>
            </a:pPr>
            <a:r>
              <a:t>成立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148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2021年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2377440" cy="20116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69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BAE"/>
                </a:solidFill>
                <a:latin typeface="Arial"/>
              </a:defRPr>
            </a:pPr>
            <a:r>
              <a:t>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34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AI安全</a:t>
            </a:r>
            <a:br/>
            <a:r>
              <a:t>优先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840480"/>
            <a:ext cx="2377440" cy="20116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069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A9BAE"/>
                </a:solidFill>
                <a:latin typeface="Arial"/>
              </a:defRPr>
            </a:pPr>
            <a:r>
              <a:t>性质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434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公共受益</a:t>
            </a:r>
            <a:br/>
            <a:r>
              <a:t>企业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创始团队 · The Amodei Siblings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45920" cy="41148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Arial"/>
              </a:defRPr>
            </a:pPr>
            <a:r>
              <a:t>Dario Amodei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4E"/>
                </a:solidFill>
                <a:latin typeface="Arial"/>
              </a:defRPr>
            </a:pPr>
            <a:r>
              <a:t>联合创始人 &amp; 首席执行官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斯坦福物理博士，2000年美国物理奥赛队成员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前OpenAI研究副总裁，主导GPT-2 / GPT-3开发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2020年底因对商业化方向分歧，带领团队出走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AI安全与对齐研究的全球领军人物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737360"/>
            <a:ext cx="1645920" cy="41148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73936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Arial"/>
              </a:defRPr>
            </a:pPr>
            <a:r>
              <a:t>Daniela Amodei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4E"/>
                </a:solidFill>
                <a:latin typeface="Arial"/>
              </a:defRPr>
            </a:pPr>
            <a:r>
              <a:t>联合创始人 &amp; 总裁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前OpenAI安全与政策副总裁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负责Anthropic商业化战略与运营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推动企业客户增长至500+家大型企业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D3D3D"/>
                </a:solidFill>
                <a:latin typeface="Arial"/>
              </a:defRPr>
            </a:pPr>
            <a:r>
              <a:t>• 被誉为硅谷最具理想主义色彩的科技领袖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核心理念 · Constitutional AI 宪法AI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0972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Arial"/>
              </a:defRPr>
            </a:pPr>
            <a:r>
              <a:t>Constitutional AI（宪法AI）</a:t>
            </a:r>
          </a:p>
          <a:p>
            <a:pPr>
              <a:spcBef>
                <a:spcPts val="800"/>
              </a:spcBef>
              <a:defRPr sz="1800">
                <a:solidFill>
                  <a:srgbClr val="3D3D3D"/>
                </a:solidFill>
                <a:latin typeface="Arial"/>
              </a:defRPr>
            </a:pPr>
            <a:r>
              <a:t>用一套预设的伦理原则（"宪法"）取代人工标注，让AI通过自我批判和反馈来优化行为，</a:t>
            </a:r>
          </a:p>
          <a:p>
            <a:pPr>
              <a:defRPr sz="1800">
                <a:solidFill>
                  <a:srgbClr val="3D3D3D"/>
                </a:solidFill>
                <a:latin typeface="Arial"/>
              </a:defRPr>
            </a:pPr>
            <a:r>
              <a:t>确保输出 helpful（有用）、harmless（无害）、honest（诚实），将安全规则融入训练本身。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3566160" cy="25603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Arial"/>
              </a:defRPr>
            </a:pPr>
            <a:r>
              <a:t>自我批判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85D4E"/>
                </a:solidFill>
                <a:latin typeface="Arial"/>
              </a:defRPr>
            </a:pPr>
            <a:r>
              <a:t>Self-Critique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AI根据宪法原则对自己的输出进行审视和修正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3566160" cy="2560320"/>
          </a:xfrm>
          <a:prstGeom prst="roundRect">
            <a:avLst/>
          </a:prstGeom>
          <a:solidFill>
            <a:srgbClr val="F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86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Arial"/>
              </a:defRPr>
            </a:pPr>
            <a:r>
              <a:t>AI反馈强化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85D4E"/>
                </a:solidFill>
                <a:latin typeface="Arial"/>
              </a:defRPr>
            </a:pPr>
            <a:r>
              <a:t>RLAIF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Reinforcement Learning from AI Feedback，用AI反馈替代人类反馈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657600"/>
            <a:ext cx="3566160" cy="25603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886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Arial"/>
              </a:defRPr>
            </a:pPr>
            <a:r>
              <a:t>原则嵌入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85D4E"/>
                </a:solidFill>
                <a:latin typeface="Arial"/>
              </a:defRPr>
            </a:pPr>
            <a:r>
              <a:t>Principle 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7091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安全规则直接融入模型训练，而非事后添加过滤器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核心产品 · The Claude Family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9728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旗舰级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Arial"/>
              </a:defRPr>
            </a:pPr>
            <a:r>
              <a:t>Claude 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9BAE"/>
                </a:solidFill>
                <a:latin typeface="Arial"/>
              </a:defRPr>
            </a:pPr>
            <a:r>
              <a:t>最强大模型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200400" cy="2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适用场景：复杂推理、长周期编码、高自主任务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Arial"/>
              </a:defRPr>
            </a:pPr>
            <a:r>
              <a:t>200K上下文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多项基准测试超越GPT-4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737360"/>
            <a:ext cx="1097280" cy="36576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556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均衡级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Claude 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9BAE"/>
                </a:solidFill>
                <a:latin typeface="Arial"/>
              </a:defRPr>
            </a:pPr>
            <a:r>
              <a:t>性价比之选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108960"/>
            <a:ext cx="3200400" cy="254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适用场景：日常专业工作、代码、文档分析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5D4E"/>
                </a:solidFill>
                <a:latin typeface="Arial"/>
              </a:defRPr>
            </a:pPr>
            <a:r>
              <a:t>200K上下文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企业客户首选，占比最高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554480"/>
            <a:ext cx="35661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1737360"/>
            <a:ext cx="109728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5564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轻量級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Arial"/>
              </a:defRPr>
            </a:pPr>
            <a:r>
              <a:t>Claude Haiku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697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9BAE"/>
                </a:solidFill>
                <a:latin typeface="Arial"/>
              </a:defRPr>
            </a:pPr>
            <a:r>
              <a:t>速度之王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108960"/>
            <a:ext cx="3200400" cy="2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适用场景：高并发、实时响应、简单查询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Arial"/>
              </a:defRPr>
            </a:pPr>
            <a:r>
              <a:t>200K上下文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1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A9BAE"/>
                </a:solidFill>
                <a:latin typeface="Arial"/>
              </a:defRPr>
            </a:pPr>
            <a:r>
              <a:t>成本最低，响应最快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融资历程 · Funding &amp; 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099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642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种子轮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$124M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由 Skype联合创始人 Jaan Tallinn领投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099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6642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A轮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$580M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Spark Capital领投，Google参投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69164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0992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66420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B轮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031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$750M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06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Spark Capital领投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78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3308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C轮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$450M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74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Google参投，累计战略投资$3亿+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6280" y="416052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178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13308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D轮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572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~$4B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074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Amazon投资$40亿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4160520"/>
            <a:ext cx="73152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178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3308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A4A"/>
                </a:solidFill>
                <a:latin typeface="Arial"/>
              </a:defRPr>
            </a:pPr>
            <a:r>
              <a:t>F轮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5720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5D4E"/>
                </a:solidFill>
                <a:latin typeface="Arial"/>
              </a:defRPr>
            </a:pPr>
            <a:r>
              <a:t>$13B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074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3D3D"/>
                </a:solidFill>
                <a:latin typeface="Arial"/>
              </a:defRPr>
            </a:pPr>
            <a:r>
              <a:t>ICONIQ领投，估值$1830亿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关键数据 ·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9BAE"/>
                </a:solidFill>
                <a:latin typeface="Arial"/>
              </a:defRPr>
            </a:pPr>
            <a:r>
              <a:t>Anthropic是全球增长最快的科技企业之一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$1830亿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F轮投后估值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2025年9月，超越波音、德州仪器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$50亿+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年化收入 (ARR)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八个月内从$9亿跃升至$50亿+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30倍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15个月收入增长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企业软件史上最快增长纪录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年消费&gt;$100万企业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包括8家财富10强客户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2336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200K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00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上下文窗口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166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约15万字，支持长篇文档与代码库分析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85D4E"/>
                </a:solidFill>
                <a:latin typeface="Arial Black"/>
              </a:defRPr>
            </a:pPr>
            <a:r>
              <a:t>94家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006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Arial"/>
              </a:defRPr>
            </a:pPr>
            <a:r>
              <a:t>投资方数量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166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3D3D"/>
                </a:solidFill>
                <a:latin typeface="Arial"/>
              </a:defRPr>
            </a:pPr>
            <a:r>
              <a:t>F轮：ICONIQ、Fidelity、Lightspeed；战略：Google、Amazon等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竞争格局 · Anthropic vs OpenAI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73152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Anthropic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定位：企业优先，安全至上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核心产品：Claude系列 (Opus/Sonnet/Haiku)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安全理念：Constitutional AI嵌入训练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上下文：200K tokens（标准版，支持长篇文档）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客户：500+大型企业，8家财富10强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收入模式：高价值企业合同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增长：15个月收入增长30倍</a:t>
            </a:r>
          </a:p>
        </p:txBody>
      </p:sp>
      <p:sp>
        <p:nvSpPr>
          <p:cNvPr id="15" name="Oval 14"/>
          <p:cNvSpPr/>
          <p:nvPr/>
        </p:nvSpPr>
        <p:spPr>
          <a:xfrm>
            <a:off x="5394960" y="3566160"/>
            <a:ext cx="1371600" cy="13716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8862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53949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39496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定位：消费+企业双轮驱动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核心产品：GPT系列 / ChatGPT / DALL-E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安全理念：过滤器+外部对齐团队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上下文：128K tokens (GPT-4)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976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客户：9亿周活用户，消费端主导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548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收入模式：订阅+API+企业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120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增长：消费端流量是Claude的50倍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投资者与合作伙伴 · Investors &amp; Partners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ICONIQ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1554480" cy="32004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F轮领投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D3D3D"/>
                </a:solidFill>
                <a:latin typeface="Arial"/>
              </a:defRPr>
            </a:pPr>
            <a:r>
              <a:t>$1830亿估值的主要推动者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Google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40" y="2194560"/>
            <a:ext cx="1554480" cy="32004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22128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战略投资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D3D3D"/>
                </a:solidFill>
                <a:latin typeface="Arial"/>
              </a:defRPr>
            </a:pPr>
            <a:r>
              <a:t>早期投资$3亿+，2025年签署数十亿美元云合作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Amazon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194560"/>
            <a:ext cx="1554480" cy="32004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128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战略投资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D3D3D"/>
                </a:solidFill>
                <a:latin typeface="Arial"/>
              </a:defRPr>
            </a:pPr>
            <a:r>
              <a:t>$40亿投资+AWS Bedrock集成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554480"/>
            <a:ext cx="2651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9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7373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  <a:latin typeface="Arial"/>
              </a:defRPr>
            </a:pPr>
            <a:r>
              <a:t>Fidelity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2194560"/>
            <a:ext cx="1554480" cy="320040"/>
          </a:xfrm>
          <a:prstGeom prst="round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2128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F轮联合领投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D3D3D"/>
                </a:solidFill>
                <a:latin typeface="Arial"/>
              </a:defRPr>
            </a:pPr>
            <a:r>
              <a:t>顶级资产管理公司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0972800" cy="21945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2A4A"/>
                </a:solidFill>
                <a:latin typeface="Arial"/>
              </a:defRPr>
            </a:pPr>
            <a:r>
              <a:t>云生态战略合作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AWS Bedrock：Claude模型原生集成至Amazon Bedrock平台，企业可通过AWS直接调用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Google Cloud：利用Google Cloud TPU训练模型，深度技术合作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3D3D"/>
                </a:solidFill>
                <a:latin typeface="Arial"/>
              </a:defRPr>
            </a:pPr>
            <a:r>
              <a:t>• Salesforce：F轮参投，探索AI在CRM领域的企业应用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37160" cy="4114800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总结与展望 · Summary &amp; Outlook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A4A"/>
                </a:solidFill>
                <a:latin typeface="Arial"/>
              </a:defRPr>
            </a:pPr>
            <a:r>
              <a:t>核心观点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AI安全不是可选项，而是企业AI采纳的前提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Constitutional AI提供了可规模化的安全训练范式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Anthropic证明了"安全优先"可以与商业成功并存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企业市场将成为AI竞赛的主战场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长上下文能力正在重新定义大模型的应用边界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5D4E"/>
                </a:solidFill>
                <a:latin typeface="Arial"/>
              </a:defRPr>
            </a:pPr>
            <a:r>
              <a:t>未来展望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冲刺IPO：估值逼近万亿美元，上市计划推进中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技术突破：从分钟级到小时级自主任务执行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生态扩张：与AWS、Google深度绑定，云即AI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安全治理：推动全球AI监管与行业标准制定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20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3D3D"/>
                </a:solidFill>
                <a:latin typeface="Arial"/>
              </a:defRPr>
            </a:pPr>
            <a:r>
              <a:t>全球化：从硅谷走向世界的AI安全领导者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8A9BAE"/>
                </a:solidFill>
                <a:latin typeface="Arial"/>
              </a:defRPr>
            </a:pPr>
            <a:r>
              <a:t>"The future of AI is not just about building more powerful models — it is about building models we can trust."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